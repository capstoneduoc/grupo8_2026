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jsgRELonQBgv8o0c1uVLhniHiU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95C343-D825-4DA1-892F-EEFDBBC44174}">
  <a:tblStyle styleId="{5E95C343-D825-4DA1-892F-EEFDBBC4417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241608373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20074955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1535639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endParaRPr lang="es-CL"/>
          </a:p>
        </p:txBody>
      </p:sp>
      <p:sp>
        <p:nvSpPr>
          <p:cNvPr id="9" name="Footer Placeholder 8"/>
          <p:cNvSpPr>
            <a:spLocks noGrp="1"/>
          </p:cNvSpPr>
          <p:nvPr>
            <p:ph type="ftr" sz="quarter" idx="11"/>
          </p:nvPr>
        </p:nvSpPr>
        <p:spPr/>
        <p:txBody>
          <a:bodyPr/>
          <a:lstStyle/>
          <a:p>
            <a:endParaRPr lang="es-CL"/>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171619735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2450355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4291661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30912611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endParaRPr lang="es-CL"/>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CL"/>
          </a:p>
        </p:txBody>
      </p:sp>
      <p:sp>
        <p:nvSpPr>
          <p:cNvPr id="11" name="Slide Number Placeholder 10"/>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19055006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s-CL"/>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s-CL"/>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78661317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403415058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90746476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s-CL"/>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s-CL"/>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pPr marL="0" lvl="0" indent="0" algn="r" rtl="0">
              <a:spcBef>
                <a:spcPts val="0"/>
              </a:spcBef>
              <a:spcAft>
                <a:spcPts val="0"/>
              </a:spcAft>
              <a:buNone/>
            </a:pPr>
            <a:fld id="{00000000-1234-1234-1234-123412341234}" type="slidenum">
              <a:rPr lang="es-CL" smtClean="0"/>
              <a:t>‹Nº›</a:t>
            </a:fld>
            <a:endParaRPr lang="es-CL"/>
          </a:p>
        </p:txBody>
      </p:sp>
    </p:spTree>
    <p:extLst>
      <p:ext uri="{BB962C8B-B14F-4D97-AF65-F5344CB8AC3E}">
        <p14:creationId xmlns:p14="http://schemas.microsoft.com/office/powerpoint/2010/main" val="148591444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407886" y="1398133"/>
            <a:ext cx="9144000" cy="16208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ct val="100000"/>
              <a:buFont typeface="Calibri"/>
              <a:buNone/>
            </a:pPr>
            <a:r>
              <a:rPr lang="es-CL"/>
              <a:t>Presentación Portafolio Titulo</a:t>
            </a:r>
            <a:br>
              <a:rPr lang="es-CL"/>
            </a:br>
            <a:r>
              <a:rPr lang="es-CL" sz="3200"/>
              <a:t>“NexoHardware”</a:t>
            </a:r>
            <a:endParaRPr/>
          </a:p>
        </p:txBody>
      </p:sp>
      <p:sp>
        <p:nvSpPr>
          <p:cNvPr id="85" name="Google Shape;85;p1"/>
          <p:cNvSpPr txBox="1">
            <a:spLocks noGrp="1"/>
          </p:cNvSpPr>
          <p:nvPr>
            <p:ph type="subTitle" idx="1"/>
          </p:nvPr>
        </p:nvSpPr>
        <p:spPr>
          <a:xfrm>
            <a:off x="1524000" y="3562999"/>
            <a:ext cx="9144000" cy="1620837"/>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3200"/>
              <a:buNone/>
            </a:pPr>
            <a:r>
              <a:rPr lang="es-CL" sz="3200"/>
              <a:t>Ingeniería Informática</a:t>
            </a:r>
            <a:endParaRPr/>
          </a:p>
          <a:p>
            <a:pPr marL="0" lvl="0" indent="0" algn="ctr" rtl="0">
              <a:lnSpc>
                <a:spcPct val="90000"/>
              </a:lnSpc>
              <a:spcBef>
                <a:spcPts val="1000"/>
              </a:spcBef>
              <a:spcAft>
                <a:spcPts val="0"/>
              </a:spcAft>
              <a:buClr>
                <a:schemeClr val="dk1"/>
              </a:buClr>
              <a:buSzPts val="1400"/>
              <a:buNone/>
            </a:pPr>
            <a:r>
              <a:rPr lang="es-CL" sz="1400"/>
              <a:t>Escuela de Informática y Telecomunicaciones</a:t>
            </a:r>
            <a:endParaRPr/>
          </a:p>
          <a:p>
            <a:pPr marL="0" lvl="0" indent="0" algn="ctr" rtl="0">
              <a:lnSpc>
                <a:spcPct val="90000"/>
              </a:lnSpc>
              <a:spcBef>
                <a:spcPts val="1000"/>
              </a:spcBef>
              <a:spcAft>
                <a:spcPts val="0"/>
              </a:spcAft>
              <a:buClr>
                <a:schemeClr val="dk1"/>
              </a:buClr>
              <a:buSzPts val="1400"/>
              <a:buNone/>
            </a:pPr>
            <a:r>
              <a:rPr lang="es-CL" sz="1400"/>
              <a:t>Sede [Puente Alto]</a:t>
            </a:r>
            <a:endParaRPr/>
          </a:p>
          <a:p>
            <a:pPr marL="0" lvl="0" indent="0" algn="ctr" rtl="0">
              <a:lnSpc>
                <a:spcPct val="90000"/>
              </a:lnSpc>
              <a:spcBef>
                <a:spcPts val="1000"/>
              </a:spcBef>
              <a:spcAft>
                <a:spcPts val="0"/>
              </a:spcAft>
              <a:buClr>
                <a:schemeClr val="dk1"/>
              </a:buClr>
              <a:buSzPts val="1400"/>
              <a:buNone/>
            </a:pPr>
            <a:r>
              <a:rPr lang="es-CL" sz="1400"/>
              <a:t>2026</a:t>
            </a:r>
            <a:endParaRPr/>
          </a:p>
          <a:p>
            <a:pPr marL="0" lvl="0" indent="0" algn="ctr" rtl="0">
              <a:lnSpc>
                <a:spcPct val="90000"/>
              </a:lnSpc>
              <a:spcBef>
                <a:spcPts val="1000"/>
              </a:spcBef>
              <a:spcAft>
                <a:spcPts val="0"/>
              </a:spcAft>
              <a:buClr>
                <a:schemeClr val="dk1"/>
              </a:buClr>
              <a:buSzPts val="1400"/>
              <a:buNone/>
            </a:pPr>
            <a:endParaRPr sz="1400"/>
          </a:p>
          <a:p>
            <a:pPr marL="0" lvl="0" indent="0" algn="ctr" rtl="0">
              <a:lnSpc>
                <a:spcPct val="90000"/>
              </a:lnSpc>
              <a:spcBef>
                <a:spcPts val="1000"/>
              </a:spcBef>
              <a:spcAft>
                <a:spcPts val="0"/>
              </a:spcAft>
              <a:buClr>
                <a:schemeClr val="dk1"/>
              </a:buClr>
              <a:buSzPts val="1400"/>
              <a:buNone/>
            </a:pP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p:nvPr/>
        </p:nvSpPr>
        <p:spPr>
          <a:xfrm>
            <a:off x="555827" y="2315666"/>
            <a:ext cx="2993823"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b="0" i="0" u="none" strike="noStrike" cap="none">
                <a:solidFill>
                  <a:schemeClr val="dk1"/>
                </a:solidFill>
                <a:latin typeface="Calibri"/>
                <a:ea typeface="Calibri"/>
                <a:cs typeface="Calibri"/>
                <a:sym typeface="Calibri"/>
              </a:rPr>
              <a:t>INTEGRANTES DEL PROYECTO</a:t>
            </a:r>
            <a:endParaRPr sz="1800" b="0" i="0" u="none" strike="noStrike" cap="none">
              <a:solidFill>
                <a:schemeClr val="dk1"/>
              </a:solidFill>
              <a:latin typeface="Calibri"/>
              <a:ea typeface="Calibri"/>
              <a:cs typeface="Calibri"/>
              <a:sym typeface="Calibri"/>
            </a:endParaRPr>
          </a:p>
        </p:txBody>
      </p:sp>
      <p:grpSp>
        <p:nvGrpSpPr>
          <p:cNvPr id="91" name="Google Shape;91;p2"/>
          <p:cNvGrpSpPr/>
          <p:nvPr/>
        </p:nvGrpSpPr>
        <p:grpSpPr>
          <a:xfrm>
            <a:off x="4110222" y="2315666"/>
            <a:ext cx="7637249" cy="3108053"/>
            <a:chOff x="0" y="-12"/>
            <a:chExt cx="7637249" cy="3108053"/>
          </a:xfrm>
        </p:grpSpPr>
        <p:sp>
          <p:nvSpPr>
            <p:cNvPr id="92" name="Google Shape;92;p2"/>
            <p:cNvSpPr/>
            <p:nvPr/>
          </p:nvSpPr>
          <p:spPr>
            <a:xfrm>
              <a:off x="0" y="0"/>
              <a:ext cx="6780900" cy="1067400"/>
            </a:xfrm>
            <a:prstGeom prst="roundRect">
              <a:avLst>
                <a:gd name="adj" fmla="val 10000"/>
              </a:avLst>
            </a:prstGeom>
            <a:gradFill>
              <a:gsLst>
                <a:gs pos="0">
                  <a:srgbClr val="5D7FC9"/>
                </a:gs>
                <a:gs pos="50000">
                  <a:srgbClr val="3A6EC9"/>
                </a:gs>
                <a:gs pos="100000">
                  <a:srgbClr val="2C5EB8"/>
                </a:gs>
              </a:gsLst>
              <a:lin ang="5400012" scaled="0"/>
            </a:gradFill>
            <a:ln>
              <a:noFill/>
            </a:ln>
            <a:effectLst>
              <a:outerShdw blurRad="57150" dist="19050" dir="5400000" algn="ctr" rotWithShape="0">
                <a:srgbClr val="000000">
                  <a:alpha val="631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txBox="1"/>
            <p:nvPr/>
          </p:nvSpPr>
          <p:spPr>
            <a:xfrm>
              <a:off x="1462949" y="-12"/>
              <a:ext cx="5318100" cy="1425300"/>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chemeClr val="lt1"/>
                </a:buClr>
                <a:buSzPts val="2100"/>
                <a:buFont typeface="Calibri"/>
                <a:buNone/>
              </a:pPr>
              <a:r>
                <a:rPr lang="es-CL" sz="2100" dirty="0">
                  <a:solidFill>
                    <a:schemeClr val="lt1"/>
                  </a:solidFill>
                  <a:latin typeface="Calibri"/>
                  <a:ea typeface="Calibri"/>
                  <a:cs typeface="Calibri"/>
                  <a:sym typeface="Calibri"/>
                </a:rPr>
                <a:t>Ignacio Salas</a:t>
              </a:r>
              <a:endParaRPr sz="2100" b="0" i="0" u="none" strike="noStrike" cap="none" dirty="0">
                <a:solidFill>
                  <a:schemeClr val="lt1"/>
                </a:solidFill>
                <a:latin typeface="Calibri"/>
                <a:ea typeface="Calibri"/>
                <a:cs typeface="Calibri"/>
                <a:sym typeface="Calibri"/>
              </a:endParaRPr>
            </a:p>
            <a:p>
              <a:pPr marL="171450" marR="0" lvl="1" indent="-171450" algn="l" rtl="0">
                <a:lnSpc>
                  <a:spcPct val="90000"/>
                </a:lnSpc>
                <a:spcBef>
                  <a:spcPts val="735"/>
                </a:spcBef>
                <a:spcAft>
                  <a:spcPts val="0"/>
                </a:spcAft>
                <a:buClr>
                  <a:schemeClr val="lt1"/>
                </a:buClr>
                <a:buSzPts val="1600"/>
                <a:buFont typeface="Calibri"/>
                <a:buChar char="•"/>
              </a:pPr>
              <a:r>
                <a:rPr lang="es-CL" sz="1600" b="0" i="0" u="none" strike="noStrike" cap="none" dirty="0">
                  <a:solidFill>
                    <a:schemeClr val="lt1"/>
                  </a:solidFill>
                  <a:latin typeface="Calibri"/>
                  <a:ea typeface="Calibri"/>
                  <a:cs typeface="Calibri"/>
                  <a:sym typeface="Calibri"/>
                </a:rPr>
                <a:t>Cargo: Jefe de proyecto y </a:t>
              </a:r>
              <a:r>
                <a:rPr lang="es-CL" sz="1600" b="0" i="0" u="none" strike="noStrike" cap="none" dirty="0" err="1">
                  <a:solidFill>
                    <a:schemeClr val="lt1"/>
                  </a:solidFill>
                  <a:latin typeface="Calibri"/>
                  <a:ea typeface="Calibri"/>
                  <a:cs typeface="Calibri"/>
                  <a:sym typeface="Calibri"/>
                </a:rPr>
                <a:t>desarollador</a:t>
              </a:r>
              <a:endParaRPr sz="1600" b="0" i="0" u="none" strike="noStrike" cap="none" dirty="0">
                <a:solidFill>
                  <a:schemeClr val="lt1"/>
                </a:solidFill>
                <a:latin typeface="Calibri"/>
                <a:ea typeface="Calibri"/>
                <a:cs typeface="Calibri"/>
                <a:sym typeface="Calibri"/>
              </a:endParaRPr>
            </a:p>
            <a:p>
              <a:pPr marL="171450" marR="0" lvl="1" indent="-165100" algn="l" rtl="0">
                <a:lnSpc>
                  <a:spcPct val="90000"/>
                </a:lnSpc>
                <a:spcBef>
                  <a:spcPts val="240"/>
                </a:spcBef>
                <a:spcAft>
                  <a:spcPts val="0"/>
                </a:spcAft>
                <a:buClr>
                  <a:schemeClr val="lt1"/>
                </a:buClr>
                <a:buSzPts val="1500"/>
                <a:buFont typeface="Calibri"/>
                <a:buChar char="•"/>
              </a:pPr>
              <a:r>
                <a:rPr lang="es-CL" sz="1500" b="0" i="0" u="none" strike="noStrike" cap="none" dirty="0">
                  <a:solidFill>
                    <a:schemeClr val="lt1"/>
                  </a:solidFill>
                  <a:latin typeface="Calibri"/>
                  <a:ea typeface="Calibri"/>
                  <a:cs typeface="Calibri"/>
                  <a:sym typeface="Calibri"/>
                </a:rPr>
                <a:t>Funciones desempeñadas: </a:t>
              </a:r>
              <a:r>
                <a:rPr lang="es-CL" sz="1500" dirty="0">
                  <a:solidFill>
                    <a:schemeClr val="lt1"/>
                  </a:solidFill>
                  <a:latin typeface="Calibri"/>
                  <a:ea typeface="Calibri"/>
                  <a:cs typeface="Calibri"/>
                  <a:sym typeface="Calibri"/>
                </a:rPr>
                <a:t>Coordinación, análisis, desarrollo </a:t>
              </a:r>
              <a:r>
                <a:rPr lang="es-CL" sz="1500" dirty="0" err="1">
                  <a:solidFill>
                    <a:schemeClr val="lt1"/>
                  </a:solidFill>
                  <a:latin typeface="Calibri"/>
                  <a:ea typeface="Calibri"/>
                  <a:cs typeface="Calibri"/>
                  <a:sym typeface="Calibri"/>
                </a:rPr>
                <a:t>backend</a:t>
              </a:r>
              <a:r>
                <a:rPr lang="es-CL" sz="1500" dirty="0">
                  <a:solidFill>
                    <a:schemeClr val="lt1"/>
                  </a:solidFill>
                  <a:latin typeface="Calibri"/>
                  <a:ea typeface="Calibri"/>
                  <a:cs typeface="Calibri"/>
                  <a:sym typeface="Calibri"/>
                </a:rPr>
                <a:t>, </a:t>
              </a:r>
              <a:r>
                <a:rPr lang="es-CL" sz="1500" dirty="0" err="1">
                  <a:solidFill>
                    <a:schemeClr val="lt1"/>
                  </a:solidFill>
                  <a:latin typeface="Calibri"/>
                  <a:ea typeface="Calibri"/>
                  <a:cs typeface="Calibri"/>
                  <a:sym typeface="Calibri"/>
                </a:rPr>
                <a:t>integracion</a:t>
              </a:r>
              <a:r>
                <a:rPr lang="es-CL" sz="1500" dirty="0">
                  <a:solidFill>
                    <a:schemeClr val="lt1"/>
                  </a:solidFill>
                  <a:latin typeface="Calibri"/>
                  <a:ea typeface="Calibri"/>
                  <a:cs typeface="Calibri"/>
                  <a:sym typeface="Calibri"/>
                </a:rPr>
                <a:t> y pruebas</a:t>
              </a:r>
              <a:endParaRPr sz="1500" b="0" i="0" u="none" strike="noStrike" cap="none" dirty="0">
                <a:solidFill>
                  <a:schemeClr val="lt1"/>
                </a:solidFill>
                <a:latin typeface="Calibri"/>
                <a:ea typeface="Calibri"/>
                <a:cs typeface="Calibri"/>
                <a:sym typeface="Calibri"/>
              </a:endParaRPr>
            </a:p>
          </p:txBody>
        </p:sp>
        <p:sp>
          <p:nvSpPr>
            <p:cNvPr id="94" name="Google Shape;94;p2"/>
            <p:cNvSpPr/>
            <p:nvPr/>
          </p:nvSpPr>
          <p:spPr>
            <a:xfrm>
              <a:off x="106749" y="106749"/>
              <a:ext cx="1356300" cy="854100"/>
            </a:xfrm>
            <a:prstGeom prst="roundRect">
              <a:avLst>
                <a:gd name="adj" fmla="val 10000"/>
              </a:avLst>
            </a:prstGeom>
            <a:solidFill>
              <a:srgbClr val="BCC5E4"/>
            </a:solidFill>
            <a:ln>
              <a:noFill/>
            </a:ln>
            <a:effectLst>
              <a:outerShdw blurRad="57150" dist="19050" dir="5400000" algn="ctr" rotWithShape="0">
                <a:srgbClr val="000000">
                  <a:alpha val="631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0" y="1174243"/>
              <a:ext cx="6780900" cy="1067400"/>
            </a:xfrm>
            <a:prstGeom prst="roundRect">
              <a:avLst>
                <a:gd name="adj" fmla="val 10000"/>
              </a:avLst>
            </a:prstGeom>
            <a:gradFill>
              <a:gsLst>
                <a:gs pos="0">
                  <a:srgbClr val="5D7FC9"/>
                </a:gs>
                <a:gs pos="50000">
                  <a:srgbClr val="3A6EC9"/>
                </a:gs>
                <a:gs pos="100000">
                  <a:srgbClr val="2C5EB8"/>
                </a:gs>
              </a:gsLst>
              <a:lin ang="5400012" scaled="0"/>
            </a:gradFill>
            <a:ln>
              <a:noFill/>
            </a:ln>
            <a:effectLst>
              <a:outerShdw blurRad="57150" dist="19050" dir="5400000" algn="ctr" rotWithShape="0">
                <a:srgbClr val="000000">
                  <a:alpha val="631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txBox="1"/>
            <p:nvPr/>
          </p:nvSpPr>
          <p:spPr>
            <a:xfrm>
              <a:off x="1462949" y="1174241"/>
              <a:ext cx="6174300" cy="1933800"/>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Gabriel Monsalve</a:t>
              </a:r>
              <a:endParaRPr sz="21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Desarollador frontend</a:t>
              </a:r>
              <a:endParaRPr sz="1600" b="0" i="0" u="none" strike="noStrike" cap="none">
                <a:solidFill>
                  <a:schemeClr val="lt1"/>
                </a:solidFill>
                <a:latin typeface="Calibri"/>
                <a:ea typeface="Calibri"/>
                <a:cs typeface="Calibri"/>
                <a:sym typeface="Calibri"/>
              </a:endParaRPr>
            </a:p>
            <a:p>
              <a:pPr marL="171450" marR="0" lvl="1" indent="-171450" algn="l" rtl="0">
                <a:lnSpc>
                  <a:spcPct val="90000"/>
                </a:lnSpc>
                <a:spcBef>
                  <a:spcPts val="240"/>
                </a:spcBef>
                <a:spcAft>
                  <a:spcPts val="0"/>
                </a:spcAft>
                <a:buClr>
                  <a:schemeClr val="lt1"/>
                </a:buClr>
                <a:buSzPts val="1600"/>
                <a:buFont typeface="Calibri"/>
                <a:buChar char="•"/>
              </a:pPr>
              <a:r>
                <a:rPr lang="es-CL" sz="1200" b="0" i="0" u="none" strike="noStrike" cap="none">
                  <a:solidFill>
                    <a:schemeClr val="lt1"/>
                  </a:solidFill>
                  <a:latin typeface="Calibri"/>
                  <a:ea typeface="Calibri"/>
                  <a:cs typeface="Calibri"/>
                  <a:sym typeface="Calibri"/>
                </a:rPr>
                <a:t>Funciones desempeñadas: Diseño, desarrollo web, integración API y pruebas</a:t>
              </a:r>
              <a:r>
                <a:rPr lang="es-CL" sz="1600" b="0" i="0" u="none" strike="noStrike" cap="none">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97" name="Google Shape;97;p2"/>
            <p:cNvSpPr/>
            <p:nvPr/>
          </p:nvSpPr>
          <p:spPr>
            <a:xfrm>
              <a:off x="106749" y="1280992"/>
              <a:ext cx="1356300" cy="854100"/>
            </a:xfrm>
            <a:prstGeom prst="roundRect">
              <a:avLst>
                <a:gd name="adj" fmla="val 10000"/>
              </a:avLst>
            </a:prstGeom>
            <a:solidFill>
              <a:srgbClr val="BCC5E4"/>
            </a:solidFill>
            <a:ln>
              <a:noFill/>
            </a:ln>
            <a:effectLst>
              <a:outerShdw blurRad="57150" dist="19050" dir="5400000" algn="ctr" rotWithShape="0">
                <a:srgbClr val="000000">
                  <a:alpha val="631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725659" y="1110713"/>
            <a:ext cx="10515600" cy="7180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L"/>
              <a:t>Descripción del Proyecto</a:t>
            </a:r>
            <a:endParaRPr/>
          </a:p>
        </p:txBody>
      </p:sp>
      <p:sp>
        <p:nvSpPr>
          <p:cNvPr id="103" name="Google Shape;103;p3"/>
          <p:cNvSpPr/>
          <p:nvPr/>
        </p:nvSpPr>
        <p:spPr>
          <a:xfrm>
            <a:off x="714909" y="2169769"/>
            <a:ext cx="4427360" cy="4092601"/>
          </a:xfrm>
          <a:prstGeom prst="roundRect">
            <a:avLst>
              <a:gd name="adj" fmla="val 10901"/>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b="0" i="0" u="sng" strike="noStrike" cap="none">
                <a:solidFill>
                  <a:schemeClr val="dk1"/>
                </a:solidFill>
                <a:latin typeface="Calibri"/>
                <a:ea typeface="Calibri"/>
                <a:cs typeface="Calibri"/>
                <a:sym typeface="Calibri"/>
              </a:rPr>
              <a:t>Problemática</a:t>
            </a:r>
            <a:endParaRPr/>
          </a:p>
          <a:p>
            <a:pPr marL="0" marR="0" lvl="0" indent="0" algn="ctr" rtl="0">
              <a:spcBef>
                <a:spcPts val="0"/>
              </a:spcBef>
              <a:spcAft>
                <a:spcPts val="0"/>
              </a:spcAft>
              <a:buNone/>
            </a:pPr>
            <a:endParaRPr sz="1800" b="0" i="0" u="sng"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r>
              <a:rPr lang="es-CL" sz="1800">
                <a:solidFill>
                  <a:schemeClr val="dk1"/>
                </a:solidFill>
                <a:latin typeface="Calibri"/>
                <a:ea typeface="Calibri"/>
                <a:cs typeface="Calibri"/>
                <a:sym typeface="Calibri"/>
              </a:rPr>
              <a:t>NexoHardware no dispone de una plataforma integrada para vender sus productos por internet y centralizar la información de inventario, clientes y pedidos. El uso de registros manuales y canales separados puede provocar diferencias de stock, duplicación de información y retrasos en la atención. </a:t>
            </a:r>
            <a:endParaRPr sz="18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endParaRPr sz="1800" b="0" i="0" u="sng" strike="noStrike" cap="none">
              <a:solidFill>
                <a:schemeClr val="dk1"/>
              </a:solidFill>
              <a:latin typeface="Calibri"/>
              <a:ea typeface="Calibri"/>
              <a:cs typeface="Calibri"/>
              <a:sym typeface="Calibri"/>
            </a:endParaRPr>
          </a:p>
        </p:txBody>
      </p:sp>
      <p:sp>
        <p:nvSpPr>
          <p:cNvPr id="104" name="Google Shape;104;p3"/>
          <p:cNvSpPr/>
          <p:nvPr/>
        </p:nvSpPr>
        <p:spPr>
          <a:xfrm>
            <a:off x="6912079" y="2177325"/>
            <a:ext cx="4641292" cy="4092601"/>
          </a:xfrm>
          <a:prstGeom prst="roundRect">
            <a:avLst>
              <a:gd name="adj" fmla="val 10901"/>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CL" sz="2800" b="0" i="0" u="sng" strike="noStrike" cap="none">
                <a:solidFill>
                  <a:schemeClr val="dk1"/>
                </a:solidFill>
                <a:latin typeface="Calibri"/>
                <a:ea typeface="Calibri"/>
                <a:cs typeface="Calibri"/>
                <a:sym typeface="Calibri"/>
              </a:rPr>
              <a:t>Propuesta de solución</a:t>
            </a:r>
            <a:endParaRPr/>
          </a:p>
          <a:p>
            <a:pPr marL="0" marR="0" lvl="0" indent="0" algn="ctr" rtl="0">
              <a:spcBef>
                <a:spcPts val="0"/>
              </a:spcBef>
              <a:spcAft>
                <a:spcPts val="0"/>
              </a:spcAft>
              <a:buNone/>
            </a:pPr>
            <a:endParaRPr sz="1800" b="0" i="0" u="sng"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r>
              <a:rPr lang="es-CL" sz="1800">
                <a:solidFill>
                  <a:schemeClr val="dk1"/>
                </a:solidFill>
                <a:latin typeface="Calibri"/>
                <a:ea typeface="Calibri"/>
                <a:cs typeface="Calibri"/>
                <a:sym typeface="Calibri"/>
              </a:rPr>
              <a:t>Desarrollar una tienda web para clientes y una aplicación administrativa, integradas mediante una API REST y una base de datos centralizada. La solución permitirá gestionar el catálogo, carrito de compras, inventario, pedidos, pagos, notificaciones y reportes. </a:t>
            </a:r>
            <a:endParaRPr sz="1800" b="0" i="0" u="none" strike="noStrike" cap="none">
              <a:solidFill>
                <a:schemeClr val="dk1"/>
              </a:solidFill>
              <a:latin typeface="Calibri"/>
              <a:ea typeface="Calibri"/>
              <a:cs typeface="Calibri"/>
              <a:sym typeface="Calibri"/>
            </a:endParaRPr>
          </a:p>
        </p:txBody>
      </p:sp>
      <p:sp>
        <p:nvSpPr>
          <p:cNvPr id="105" name="Google Shape;105;p3"/>
          <p:cNvSpPr/>
          <p:nvPr/>
        </p:nvSpPr>
        <p:spPr>
          <a:xfrm>
            <a:off x="5456903" y="3736258"/>
            <a:ext cx="1140542" cy="757084"/>
          </a:xfrm>
          <a:prstGeom prst="rightArrow">
            <a:avLst>
              <a:gd name="adj1" fmla="val 50000"/>
              <a:gd name="adj2" fmla="val 50000"/>
            </a:avLst>
          </a:prstGeom>
          <a:solidFill>
            <a:schemeClr val="accent1"/>
          </a:solidFill>
          <a:ln w="12700" cap="flat" cmpd="sng">
            <a:solidFill>
              <a:srgbClr val="264159"/>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
                                        </p:tgtEl>
                                        <p:attrNameLst>
                                          <p:attrName>style.visibility</p:attrName>
                                        </p:attrNameLst>
                                      </p:cBhvr>
                                      <p:to>
                                        <p:strVal val="visible"/>
                                      </p:to>
                                    </p:set>
                                    <p:animEffect transition="in" filter="fade">
                                      <p:cBhvr>
                                        <p:cTn id="12" dur="500"/>
                                        <p:tgtEl>
                                          <p:spTgt spid="105"/>
                                        </p:tgtEl>
                                      </p:cBhvr>
                                    </p:animEffect>
                                  </p:childTnLst>
                                </p:cTn>
                              </p:par>
                              <p:par>
                                <p:cTn id="13" presetID="10"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animEffect transition="in" filter="fade">
                                      <p:cBhvr>
                                        <p:cTn id="15"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p:nvPr/>
        </p:nvSpPr>
        <p:spPr>
          <a:xfrm>
            <a:off x="614515" y="2040571"/>
            <a:ext cx="10962967" cy="1575221"/>
          </a:xfrm>
          <a:prstGeom prst="roundRect">
            <a:avLst>
              <a:gd name="adj" fmla="val 16667"/>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Desarrollar un sistema web de comercio electrónico para NexoHardware que permita comercializar productos de hardware computacional y centralizar la gestión de clientes, inventario, pedidos, pagos y reportes. </a:t>
            </a:r>
            <a:endParaRPr sz="1800" b="0" i="0" u="none" strike="noStrike" cap="none">
              <a:solidFill>
                <a:schemeClr val="dk1"/>
              </a:solidFill>
              <a:latin typeface="Calibri"/>
              <a:ea typeface="Calibri"/>
              <a:cs typeface="Calibri"/>
              <a:sym typeface="Calibri"/>
            </a:endParaRPr>
          </a:p>
        </p:txBody>
      </p:sp>
      <p:sp>
        <p:nvSpPr>
          <p:cNvPr id="111" name="Google Shape;111;p4"/>
          <p:cNvSpPr/>
          <p:nvPr/>
        </p:nvSpPr>
        <p:spPr>
          <a:xfrm>
            <a:off x="614514" y="4732407"/>
            <a:ext cx="10962967" cy="1575221"/>
          </a:xfrm>
          <a:prstGeom prst="roundRect">
            <a:avLst>
              <a:gd name="adj" fmla="val 16667"/>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-Analizar y documentar los procesos y requisitos del sistema.</a:t>
            </a:r>
            <a:endParaRPr sz="18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-Diseñar la arquitectura, la base de datos y las interfaces.</a:t>
            </a:r>
            <a:endParaRPr sz="18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-Desarrollar la tienda, la aplicación administrativa y la API REST.</a:t>
            </a:r>
            <a:endParaRPr sz="1800">
              <a:solidFill>
                <a:schemeClr val="dk1"/>
              </a:solidFill>
              <a:latin typeface="Calibri"/>
              <a:ea typeface="Calibri"/>
              <a:cs typeface="Calibri"/>
              <a:sym typeface="Calibri"/>
            </a:endParaRPr>
          </a:p>
          <a:p>
            <a:pPr marL="0" lvl="0" indent="0" algn="ctr" rtl="0">
              <a:spcBef>
                <a:spcPts val="0"/>
              </a:spcBef>
              <a:spcAft>
                <a:spcPts val="0"/>
              </a:spcAft>
              <a:buSzPts val="1100"/>
              <a:buNone/>
            </a:pPr>
            <a:r>
              <a:rPr lang="es-CL" sz="1800">
                <a:solidFill>
                  <a:schemeClr val="dk1"/>
                </a:solidFill>
                <a:latin typeface="Calibri"/>
                <a:ea typeface="Calibri"/>
                <a:cs typeface="Calibri"/>
                <a:sym typeface="Calibri"/>
              </a:rPr>
              <a:t>-Implementar seguridad, pagos, notificaciones, reportes y pruebas.</a:t>
            </a:r>
            <a:endParaRPr sz="18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ETC</a:t>
            </a:r>
            <a:endParaRPr sz="1800">
              <a:solidFill>
                <a:schemeClr val="dk1"/>
              </a:solidFill>
              <a:latin typeface="Calibri"/>
              <a:ea typeface="Calibri"/>
              <a:cs typeface="Calibri"/>
              <a:sym typeface="Calibri"/>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4"/>
          <p:cNvSpPr txBox="1"/>
          <p:nvPr/>
        </p:nvSpPr>
        <p:spPr>
          <a:xfrm>
            <a:off x="152400" y="1197198"/>
            <a:ext cx="11938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b="0" i="0" u="none" strike="noStrike" cap="none">
                <a:solidFill>
                  <a:schemeClr val="dk1"/>
                </a:solidFill>
                <a:latin typeface="Calibri"/>
                <a:ea typeface="Calibri"/>
                <a:cs typeface="Calibri"/>
                <a:sym typeface="Calibri"/>
              </a:rPr>
              <a:t>Objetivo General</a:t>
            </a:r>
            <a:endParaRPr sz="1800" b="0" i="0" u="none" strike="noStrike" cap="none">
              <a:solidFill>
                <a:schemeClr val="dk1"/>
              </a:solidFill>
              <a:latin typeface="Calibri"/>
              <a:ea typeface="Calibri"/>
              <a:cs typeface="Calibri"/>
              <a:sym typeface="Calibri"/>
            </a:endParaRPr>
          </a:p>
        </p:txBody>
      </p:sp>
      <p:sp>
        <p:nvSpPr>
          <p:cNvPr id="113" name="Google Shape;113;p4"/>
          <p:cNvSpPr txBox="1"/>
          <p:nvPr/>
        </p:nvSpPr>
        <p:spPr>
          <a:xfrm>
            <a:off x="152400" y="4009875"/>
            <a:ext cx="11938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b="0" i="0" u="none" strike="noStrike" cap="none">
                <a:solidFill>
                  <a:schemeClr val="dk1"/>
                </a:solidFill>
                <a:latin typeface="Calibri"/>
                <a:ea typeface="Calibri"/>
                <a:cs typeface="Calibri"/>
                <a:sym typeface="Calibri"/>
              </a:rPr>
              <a:t>Objetivos Específicos</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3"/>
                                        </p:tgtEl>
                                        <p:attrNameLst>
                                          <p:attrName>style.visibility</p:attrName>
                                        </p:attrNameLst>
                                      </p:cBhvr>
                                      <p:to>
                                        <p:strVal val="visible"/>
                                      </p:to>
                                    </p:set>
                                    <p:animEffect transition="in" filter="fade">
                                      <p:cBhvr>
                                        <p:cTn id="12"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810065" y="809447"/>
            <a:ext cx="10515600" cy="7508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L"/>
              <a:t>Alcances</a:t>
            </a:r>
            <a:endParaRPr/>
          </a:p>
        </p:txBody>
      </p:sp>
      <p:sp>
        <p:nvSpPr>
          <p:cNvPr id="119" name="Google Shape;119;p5"/>
          <p:cNvSpPr txBox="1"/>
          <p:nvPr/>
        </p:nvSpPr>
        <p:spPr>
          <a:xfrm>
            <a:off x="914374" y="1664801"/>
            <a:ext cx="10072800" cy="507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0" i="0" u="none" strike="noStrike" cap="none">
                <a:solidFill>
                  <a:schemeClr val="dk1"/>
                </a:solidFill>
                <a:latin typeface="Calibri"/>
                <a:ea typeface="Calibri"/>
                <a:cs typeface="Calibri"/>
                <a:sym typeface="Calibri"/>
              </a:rPr>
              <a:t>Que hace el Sistema: </a:t>
            </a:r>
            <a:endParaRPr/>
          </a:p>
          <a:p>
            <a:pPr marL="0" marR="0" lvl="0" indent="0" algn="l" rtl="0">
              <a:spcBef>
                <a:spcPts val="0"/>
              </a:spcBef>
              <a:spcAft>
                <a:spcPts val="0"/>
              </a:spcAft>
              <a:buNone/>
            </a:pPr>
            <a:r>
              <a:rPr lang="es-CL" sz="1800">
                <a:solidFill>
                  <a:schemeClr val="dk1"/>
                </a:solidFill>
                <a:latin typeface="Calibri"/>
                <a:ea typeface="Calibri"/>
                <a:cs typeface="Calibri"/>
                <a:sym typeface="Calibri"/>
              </a:rPr>
              <a:t>El sistema permitirá que los clientes se registren, inicien sesión, consulten y filtren productos, revisen su disponibilidad, administren un carrito de compras y generen pedidos con sus datos de despacho. También permitirá procesar pagos mediante Mercado Pago en un entorno de prueba. Por otra parte, el personal autorizado podrá administrar productos, inventario, usuarios, roles, promociones y pedidos, además de enviar notificaciones y generar reportes de ventas e inventario.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s-CL" sz="1800">
                <a:solidFill>
                  <a:schemeClr val="dk1"/>
                </a:solidFill>
                <a:latin typeface="Calibri"/>
                <a:ea typeface="Calibri"/>
                <a:cs typeface="Calibri"/>
                <a:sym typeface="Calibri"/>
              </a:rPr>
              <a:t>Qué no hace:</a:t>
            </a:r>
            <a:endParaRPr/>
          </a:p>
          <a:p>
            <a:pPr marL="0" marR="0" lvl="0" indent="0" algn="l" rtl="0">
              <a:spcBef>
                <a:spcPts val="0"/>
              </a:spcBef>
              <a:spcAft>
                <a:spcPts val="0"/>
              </a:spcAft>
              <a:buNone/>
            </a:pPr>
            <a:r>
              <a:rPr lang="es-CL" sz="1800">
                <a:solidFill>
                  <a:schemeClr val="dk1"/>
                </a:solidFill>
                <a:latin typeface="Calibri"/>
                <a:ea typeface="Calibri"/>
                <a:cs typeface="Calibri"/>
                <a:sym typeface="Calibri"/>
              </a:rPr>
              <a:t>El sistema no procesará pagos con dinero real durante su desarrollo académico ni realizará físicamente la preparación o el despacho de los pedidos, ya que estas actividades serán responsabilidad del personal de la empresa. Tampoco realizará reposiciones automáticas de inventario, compras a proveedores, procesos contables o facturación electrónica. La solución funcionará como una plataforma web responsiva y no incluirá una aplicación móvil nativa para Android o iOS.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841416" y="1054442"/>
            <a:ext cx="10515600" cy="7525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L"/>
              <a:t>Usuarios</a:t>
            </a:r>
            <a:endParaRPr/>
          </a:p>
        </p:txBody>
      </p:sp>
      <p:sp>
        <p:nvSpPr>
          <p:cNvPr id="125" name="Google Shape;125;p6"/>
          <p:cNvSpPr/>
          <p:nvPr/>
        </p:nvSpPr>
        <p:spPr>
          <a:xfrm>
            <a:off x="839487" y="1923143"/>
            <a:ext cx="10365542" cy="4332514"/>
          </a:xfrm>
          <a:prstGeom prst="roundRect">
            <a:avLst>
              <a:gd name="adj" fmla="val 16667"/>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700">
                <a:solidFill>
                  <a:schemeClr val="dk1"/>
                </a:solidFill>
              </a:rPr>
              <a:t>El sistema contará con cuatro tipos de usuarios. El </a:t>
            </a:r>
            <a:r>
              <a:rPr lang="es-CL" sz="1700" b="1">
                <a:solidFill>
                  <a:schemeClr val="dk1"/>
                </a:solidFill>
              </a:rPr>
              <a:t>Cliente</a:t>
            </a:r>
            <a:r>
              <a:rPr lang="es-CL" sz="1700">
                <a:solidFill>
                  <a:schemeClr val="dk1"/>
                </a:solidFill>
              </a:rPr>
              <a:t> podrá registrarse, consultar productos, administrar su carrito, realizar pedidos, pagar y revisar sus compras. El </a:t>
            </a:r>
            <a:r>
              <a:rPr lang="es-CL" sz="1700" b="1">
                <a:solidFill>
                  <a:schemeClr val="dk1"/>
                </a:solidFill>
              </a:rPr>
              <a:t>Administrador</a:t>
            </a:r>
            <a:r>
              <a:rPr lang="es-CL" sz="1700">
                <a:solidFill>
                  <a:schemeClr val="dk1"/>
                </a:solidFill>
              </a:rPr>
              <a:t> gestionará productos, categorías, usuarios, roles, promociones y reportes. El </a:t>
            </a:r>
            <a:r>
              <a:rPr lang="es-CL" sz="1700" b="1">
                <a:solidFill>
                  <a:schemeClr val="dk1"/>
                </a:solidFill>
              </a:rPr>
              <a:t>Bodeguero</a:t>
            </a:r>
            <a:r>
              <a:rPr lang="es-CL" sz="1700">
                <a:solidFill>
                  <a:schemeClr val="dk1"/>
                </a:solidFill>
              </a:rPr>
              <a:t> controlará las entradas, salidas y disponibilidad del inventario, además de apoyar la preparación de pedidos. Finalmente, el </a:t>
            </a:r>
            <a:r>
              <a:rPr lang="es-CL" sz="1700" b="1">
                <a:solidFill>
                  <a:schemeClr val="dk1"/>
                </a:solidFill>
              </a:rPr>
              <a:t>Encargado de pedidos</a:t>
            </a:r>
            <a:r>
              <a:rPr lang="es-CL" sz="1700">
                <a:solidFill>
                  <a:schemeClr val="dk1"/>
                </a:solidFill>
              </a:rPr>
              <a:t> consultará las compras confirmadas, actualizará sus estados y realizará su seguimiento hasta la entrega. </a:t>
            </a:r>
            <a:endParaRPr sz="2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txBox="1">
            <a:spLocks noGrp="1"/>
          </p:cNvSpPr>
          <p:nvPr>
            <p:ph type="title"/>
          </p:nvPr>
        </p:nvSpPr>
        <p:spPr>
          <a:xfrm>
            <a:off x="841416" y="1054442"/>
            <a:ext cx="10515600" cy="7525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CL"/>
              <a:t>Lista de Requerimientos</a:t>
            </a:r>
            <a:endParaRPr/>
          </a:p>
        </p:txBody>
      </p:sp>
      <p:sp>
        <p:nvSpPr>
          <p:cNvPr id="131" name="Google Shape;131;p7"/>
          <p:cNvSpPr/>
          <p:nvPr/>
        </p:nvSpPr>
        <p:spPr>
          <a:xfrm>
            <a:off x="839487" y="1923143"/>
            <a:ext cx="10365542" cy="4332514"/>
          </a:xfrm>
          <a:prstGeom prst="roundRect">
            <a:avLst>
              <a:gd name="adj" fmla="val 16667"/>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Los requerimientos funcionales de NexoHardware consideran el registro y autenticación de usuarios, el control de acceso mediante roles, la consulta del catálogo, la administración del carrito, la generación de pedidos y el procesamiento de pagos en un entorno de prueba. También incluyen la gestión de productos, categorías, inventario, proveedores, promociones, usuarios y estados de pedidos, junto con el envío de notificaciones y la generación de reportes. Los requerimientos no funcionales establecen que la plataforma deberá ser segura, responsiva, fácil de utilizar y capaz de proteger y respaldar la información almacenada.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a:spLocks noGrp="1"/>
          </p:cNvSpPr>
          <p:nvPr>
            <p:ph type="title"/>
          </p:nvPr>
        </p:nvSpPr>
        <p:spPr>
          <a:xfrm>
            <a:off x="112977" y="745686"/>
            <a:ext cx="10515600" cy="52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s-CL"/>
              <a:t>Mockups del Sistema</a:t>
            </a:r>
            <a:endParaRPr/>
          </a:p>
        </p:txBody>
      </p:sp>
      <p:pic>
        <p:nvPicPr>
          <p:cNvPr id="137" name="Google Shape;137;p8" title="aaa.png"/>
          <p:cNvPicPr preferRelativeResize="0"/>
          <p:nvPr/>
        </p:nvPicPr>
        <p:blipFill>
          <a:blip r:embed="rId3">
            <a:alphaModFix/>
          </a:blip>
          <a:stretch>
            <a:fillRect/>
          </a:stretch>
        </p:blipFill>
        <p:spPr>
          <a:xfrm>
            <a:off x="1425414" y="1634100"/>
            <a:ext cx="9341176" cy="4422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title"/>
          </p:nvPr>
        </p:nvSpPr>
        <p:spPr>
          <a:xfrm>
            <a:off x="2" y="745661"/>
            <a:ext cx="10515600" cy="52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s-CL"/>
              <a:t>Mockups del Sistema</a:t>
            </a:r>
            <a:endParaRPr/>
          </a:p>
        </p:txBody>
      </p:sp>
      <p:pic>
        <p:nvPicPr>
          <p:cNvPr id="143" name="Google Shape;143;p9" title="aaaaaa.png"/>
          <p:cNvPicPr preferRelativeResize="0"/>
          <p:nvPr/>
        </p:nvPicPr>
        <p:blipFill>
          <a:blip r:embed="rId3">
            <a:alphaModFix/>
          </a:blip>
          <a:stretch>
            <a:fillRect/>
          </a:stretch>
        </p:blipFill>
        <p:spPr>
          <a:xfrm>
            <a:off x="1027225" y="1374100"/>
            <a:ext cx="10402774" cy="5483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a:off x="641252" y="1068511"/>
            <a:ext cx="10515600" cy="6441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s-CL"/>
              <a:t>Hitos Importantes </a:t>
            </a:r>
            <a:endParaRPr/>
          </a:p>
        </p:txBody>
      </p:sp>
      <p:graphicFrame>
        <p:nvGraphicFramePr>
          <p:cNvPr id="149" name="Google Shape;149;p10"/>
          <p:cNvGraphicFramePr/>
          <p:nvPr/>
        </p:nvGraphicFramePr>
        <p:xfrm>
          <a:off x="1708434" y="2356863"/>
          <a:ext cx="3000000" cy="3000000"/>
        </p:xfrm>
        <a:graphic>
          <a:graphicData uri="http://schemas.openxmlformats.org/drawingml/2006/table">
            <a:tbl>
              <a:tblPr firstRow="1" bandRow="1">
                <a:noFill/>
                <a:tableStyleId>{5E95C343-D825-4DA1-892F-EEFDBBC44174}</a:tableStyleId>
              </a:tblPr>
              <a:tblGrid>
                <a:gridCol w="3217850">
                  <a:extLst>
                    <a:ext uri="{9D8B030D-6E8A-4147-A177-3AD203B41FA5}">
                      <a16:colId xmlns:a16="http://schemas.microsoft.com/office/drawing/2014/main" val="20000"/>
                    </a:ext>
                  </a:extLst>
                </a:gridCol>
                <a:gridCol w="430737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Clr>
                          <a:schemeClr val="dk1"/>
                        </a:buClr>
                        <a:buSzPts val="1800"/>
                        <a:buFont typeface="Calibri"/>
                        <a:buNone/>
                      </a:pPr>
                      <a:r>
                        <a:rPr lang="es-CL" sz="1800" b="1" u="none" strike="noStrike" cap="none">
                          <a:solidFill>
                            <a:schemeClr val="dk1"/>
                          </a:solidFill>
                        </a:rPr>
                        <a:t>Nombre Fase</a:t>
                      </a:r>
                      <a:endParaRPr sz="1800" b="1" u="none" strike="noStrike" cap="none">
                        <a:solidFill>
                          <a:schemeClr val="dk1"/>
                        </a:solidFill>
                      </a:endParaRPr>
                    </a:p>
                  </a:txBody>
                  <a:tcPr marL="91450" marR="91450" marT="45725" marB="45725" anchor="ctr"/>
                </a:tc>
                <a:tc>
                  <a:txBody>
                    <a:bodyPr/>
                    <a:lstStyle/>
                    <a:p>
                      <a:pPr marL="0" marR="0" lvl="0" indent="0" algn="ctr" rtl="0">
                        <a:spcBef>
                          <a:spcPts val="0"/>
                        </a:spcBef>
                        <a:spcAft>
                          <a:spcPts val="0"/>
                        </a:spcAft>
                        <a:buClr>
                          <a:schemeClr val="dk1"/>
                        </a:buClr>
                        <a:buSzPts val="1800"/>
                        <a:buFont typeface="Calibri"/>
                        <a:buNone/>
                      </a:pPr>
                      <a:r>
                        <a:rPr lang="es-CL" sz="1800" b="1" u="none" strike="noStrike" cap="none">
                          <a:solidFill>
                            <a:schemeClr val="dk1"/>
                          </a:solidFill>
                        </a:rPr>
                        <a:t>Fechas</a:t>
                      </a:r>
                      <a:endParaRPr sz="1800" b="1" u="none" strike="noStrike" cap="none">
                        <a:solidFill>
                          <a:schemeClr val="dk1"/>
                        </a:solidFill>
                      </a:endParaRPr>
                    </a:p>
                  </a:txBody>
                  <a:tcPr marL="91450" marR="91450" marT="45725" marB="45725" anchor="ct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Clr>
                          <a:schemeClr val="dk1"/>
                        </a:buClr>
                        <a:buSzPts val="1800"/>
                        <a:buFont typeface="Calibri"/>
                        <a:buNone/>
                      </a:pPr>
                      <a:r>
                        <a:rPr lang="es-CL" sz="1800"/>
                        <a:t>Fase de planificación </a:t>
                      </a:r>
                      <a:endParaRPr sz="1800" u="none" strike="noStrike" cap="none"/>
                    </a:p>
                  </a:txBody>
                  <a:tcPr marL="91450" marR="91450" marT="45725" marB="45725" anchor="ctr"/>
                </a:tc>
                <a:tc>
                  <a:txBody>
                    <a:bodyPr/>
                    <a:lstStyle/>
                    <a:p>
                      <a:pPr marL="0" marR="0" lvl="0" indent="0" algn="l" rtl="0">
                        <a:lnSpc>
                          <a:spcPct val="115000"/>
                        </a:lnSpc>
                        <a:spcBef>
                          <a:spcPts val="0"/>
                        </a:spcBef>
                        <a:spcAft>
                          <a:spcPts val="0"/>
                        </a:spcAft>
                        <a:buNone/>
                      </a:pPr>
                      <a:r>
                        <a:rPr lang="es-CL" sz="2000"/>
                        <a:t>             07/08/2025 al 20/08/2025 </a:t>
                      </a:r>
                      <a:endParaRPr sz="2000" u="none" strike="noStrike" cap="none">
                        <a:latin typeface="Calibri"/>
                        <a:ea typeface="Calibri"/>
                        <a:cs typeface="Calibri"/>
                        <a:sym typeface="Calibri"/>
                      </a:endParaRPr>
                    </a:p>
                  </a:txBody>
                  <a:tcPr marL="68575" marR="68575" marT="0" marB="0">
                    <a:solidFill>
                      <a:schemeClr val="lt1"/>
                    </a:solidFill>
                  </a:tcPr>
                </a:tc>
                <a:extLst>
                  <a:ext uri="{0D108BD9-81ED-4DB2-BD59-A6C34878D82A}">
                    <a16:rowId xmlns:a16="http://schemas.microsoft.com/office/drawing/2014/main" val="10001"/>
                  </a:ext>
                </a:extLst>
              </a:tr>
              <a:tr h="362550">
                <a:tc>
                  <a:txBody>
                    <a:bodyPr/>
                    <a:lstStyle/>
                    <a:p>
                      <a:pPr marL="0" marR="0" lvl="0" indent="0" algn="l" rtl="0">
                        <a:spcBef>
                          <a:spcPts val="0"/>
                        </a:spcBef>
                        <a:spcAft>
                          <a:spcPts val="0"/>
                        </a:spcAft>
                        <a:buClr>
                          <a:schemeClr val="dk1"/>
                        </a:buClr>
                        <a:buSzPts val="1800"/>
                        <a:buFont typeface="Calibri"/>
                        <a:buNone/>
                      </a:pPr>
                      <a:r>
                        <a:rPr lang="es-CL" sz="1800"/>
                        <a:t>Fase de análisis y diseño </a:t>
                      </a:r>
                      <a:endParaRPr sz="1800" u="none" strike="noStrike" cap="none"/>
                    </a:p>
                  </a:txBody>
                  <a:tcPr marL="91450" marR="91450" marT="45725" marB="45725" anchor="ctr"/>
                </a:tc>
                <a:tc>
                  <a:txBody>
                    <a:bodyPr/>
                    <a:lstStyle/>
                    <a:p>
                      <a:pPr marL="0" marR="0" lvl="0" indent="0" algn="ctr" rtl="0">
                        <a:lnSpc>
                          <a:spcPct val="115000"/>
                        </a:lnSpc>
                        <a:spcBef>
                          <a:spcPts val="0"/>
                        </a:spcBef>
                        <a:spcAft>
                          <a:spcPts val="0"/>
                        </a:spcAft>
                        <a:buNone/>
                      </a:pPr>
                      <a:r>
                        <a:rPr lang="es-CL" sz="2000"/>
                        <a:t>21/08/2025 al 11/09/2025 </a:t>
                      </a:r>
                      <a:endParaRPr sz="20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Clr>
                          <a:schemeClr val="dk1"/>
                        </a:buClr>
                        <a:buSzPts val="1800"/>
                        <a:buFont typeface="Calibri"/>
                        <a:buNone/>
                      </a:pPr>
                      <a:r>
                        <a:rPr lang="es-CL" sz="1800"/>
                        <a:t>Fase de desarrollo </a:t>
                      </a:r>
                      <a:endParaRPr sz="1800" u="none" strike="noStrike" cap="none"/>
                    </a:p>
                  </a:txBody>
                  <a:tcPr marL="91450" marR="91450" marT="45725" marB="45725" anchor="ctr"/>
                </a:tc>
                <a:tc>
                  <a:txBody>
                    <a:bodyPr/>
                    <a:lstStyle/>
                    <a:p>
                      <a:pPr marL="0" marR="0" lvl="0" indent="0" algn="ctr" rtl="0">
                        <a:lnSpc>
                          <a:spcPct val="115000"/>
                        </a:lnSpc>
                        <a:spcBef>
                          <a:spcPts val="0"/>
                        </a:spcBef>
                        <a:spcAft>
                          <a:spcPts val="0"/>
                        </a:spcAft>
                        <a:buNone/>
                      </a:pPr>
                      <a:r>
                        <a:rPr lang="es-CL" sz="2000"/>
                        <a:t>12/09/2025 al 19/11/2025 </a:t>
                      </a:r>
                      <a:endParaRPr sz="20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0">
                <a:tc>
                  <a:txBody>
                    <a:bodyPr/>
                    <a:lstStyle/>
                    <a:p>
                      <a:pPr marL="0" marR="0" lvl="0" indent="0" algn="l" rtl="0">
                        <a:spcBef>
                          <a:spcPts val="0"/>
                        </a:spcBef>
                        <a:spcAft>
                          <a:spcPts val="0"/>
                        </a:spcAft>
                        <a:buClr>
                          <a:schemeClr val="dk1"/>
                        </a:buClr>
                        <a:buSzPts val="1800"/>
                        <a:buFont typeface="Calibri"/>
                        <a:buNone/>
                      </a:pPr>
                      <a:r>
                        <a:rPr lang="es-CL" sz="1800"/>
                        <a:t>Fase de pruebas y QA </a:t>
                      </a:r>
                      <a:endParaRPr sz="1800" u="none" strike="noStrike" cap="none"/>
                    </a:p>
                  </a:txBody>
                  <a:tcPr marL="91450" marR="91450" marT="45725" marB="45725" anchor="ctr"/>
                </a:tc>
                <a:tc>
                  <a:txBody>
                    <a:bodyPr/>
                    <a:lstStyle/>
                    <a:p>
                      <a:pPr marL="0" marR="0" lvl="0" indent="0" algn="ctr" rtl="0">
                        <a:lnSpc>
                          <a:spcPct val="115000"/>
                        </a:lnSpc>
                        <a:spcBef>
                          <a:spcPts val="0"/>
                        </a:spcBef>
                        <a:spcAft>
                          <a:spcPts val="0"/>
                        </a:spcAft>
                        <a:buNone/>
                      </a:pPr>
                      <a:r>
                        <a:rPr lang="es-CL" sz="2000"/>
                        <a:t>20/11/2025 al 03/12/2025 </a:t>
                      </a:r>
                      <a:endParaRPr sz="20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Clr>
                          <a:schemeClr val="dk1"/>
                        </a:buClr>
                        <a:buSzPts val="1800"/>
                        <a:buFont typeface="Calibri"/>
                        <a:buNone/>
                      </a:pPr>
                      <a:r>
                        <a:rPr lang="es-CL" sz="1800"/>
                        <a:t>Fase de implementación y cierre </a:t>
                      </a:r>
                      <a:endParaRPr sz="1800" u="none" strike="noStrike" cap="none"/>
                    </a:p>
                  </a:txBody>
                  <a:tcPr marL="91450" marR="91450" marT="45725" marB="45725" anchor="ctr"/>
                </a:tc>
                <a:tc>
                  <a:txBody>
                    <a:bodyPr/>
                    <a:lstStyle/>
                    <a:p>
                      <a:pPr marL="0" marR="0" lvl="0" indent="0" algn="ctr" rtl="0">
                        <a:lnSpc>
                          <a:spcPct val="115000"/>
                        </a:lnSpc>
                        <a:spcBef>
                          <a:spcPts val="0"/>
                        </a:spcBef>
                        <a:spcAft>
                          <a:spcPts val="0"/>
                        </a:spcAft>
                        <a:buNone/>
                      </a:pPr>
                      <a:r>
                        <a:rPr lang="es-CL" sz="2000"/>
                        <a:t>04/12/2025 al 10/12/2025 </a:t>
                      </a:r>
                      <a:endParaRPr sz="20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706567" y="901597"/>
            <a:ext cx="10515600" cy="58611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s-CL"/>
              <a:t>Costos por Fase </a:t>
            </a:r>
            <a:endParaRPr/>
          </a:p>
        </p:txBody>
      </p:sp>
      <p:sp>
        <p:nvSpPr>
          <p:cNvPr id="155" name="Google Shape;155;p11"/>
          <p:cNvSpPr/>
          <p:nvPr/>
        </p:nvSpPr>
        <p:spPr>
          <a:xfrm>
            <a:off x="840575" y="1681843"/>
            <a:ext cx="10247700" cy="4332600"/>
          </a:xfrm>
          <a:prstGeom prst="roundRect">
            <a:avLst>
              <a:gd name="adj" fmla="val 16667"/>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El costo directo estimado del proyecto es de $7.050.000 CLP. Este monto se distribuye en $684.000 para planificación, $1.314.000 para análisis y diseño, $3.810.000 para desarrollo, $606.000 para pruebas y aseguramiento de calidad, y $636.000 para implementación y cierre. Al incorporar una utilidad del 60% sobre el costo, el precio final estimado del proyecto corresponde a $11.280.000 CLP.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2"/>
          <p:cNvSpPr txBox="1">
            <a:spLocks noGrp="1"/>
          </p:cNvSpPr>
          <p:nvPr>
            <p:ph type="title"/>
          </p:nvPr>
        </p:nvSpPr>
        <p:spPr>
          <a:xfrm>
            <a:off x="641252" y="1068511"/>
            <a:ext cx="10515600" cy="6441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s-CL"/>
              <a:t>Tecnologías del Desarrollo</a:t>
            </a:r>
            <a:endParaRPr/>
          </a:p>
        </p:txBody>
      </p:sp>
      <p:sp>
        <p:nvSpPr>
          <p:cNvPr id="161" name="Google Shape;161;p12"/>
          <p:cNvSpPr txBox="1"/>
          <p:nvPr/>
        </p:nvSpPr>
        <p:spPr>
          <a:xfrm>
            <a:off x="641252" y="1828016"/>
            <a:ext cx="10861200" cy="3694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Para el desarrollo de NexoHardware se contempla utilizar Java con Spring Boot para implementar el backend y la API REST, React para construir la tienda principal y la aplicación administrativa, y PostgreSQL para almacenar la información del sistema. La seguridad será gestionada mediante Spring Security y autenticación con JWT. También se utilizarán Maven para la gestión de dependencias, Git y GitHub para el control de versiones, Postman para probar la API, JUnit para las pruebas automatizadas, Mercado Pago en su entorno de prueba y un servicio SMTP para el envío de correos electrónicos.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3"/>
          <p:cNvSpPr txBox="1"/>
          <p:nvPr/>
        </p:nvSpPr>
        <p:spPr>
          <a:xfrm>
            <a:off x="609558" y="699121"/>
            <a:ext cx="10515600" cy="105348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s-CL" sz="4400">
                <a:solidFill>
                  <a:schemeClr val="dk1"/>
                </a:solidFill>
                <a:latin typeface="Calibri"/>
                <a:ea typeface="Calibri"/>
                <a:cs typeface="Calibri"/>
                <a:sym typeface="Calibri"/>
              </a:rPr>
              <a:t>Conclusión  </a:t>
            </a:r>
            <a:endParaRPr/>
          </a:p>
        </p:txBody>
      </p:sp>
      <p:sp>
        <p:nvSpPr>
          <p:cNvPr id="167" name="Google Shape;167;p13"/>
          <p:cNvSpPr/>
          <p:nvPr/>
        </p:nvSpPr>
        <p:spPr>
          <a:xfrm>
            <a:off x="839487" y="1923143"/>
            <a:ext cx="10365542" cy="4332514"/>
          </a:xfrm>
          <a:prstGeom prst="roundRect">
            <a:avLst>
              <a:gd name="adj" fmla="val 16667"/>
            </a:avLst>
          </a:prstGeom>
          <a:solidFill>
            <a:schemeClr val="lt1"/>
          </a:solidFill>
          <a:ln w="127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La definición del proyecto NexoHardware permitió identificar la problemática existente, establecer el alcance del sistema y organizar sus principales requerimientos, usuarios, tecnologías, costos y etapas de desarrollo. La solución propuesta permitirá centralizar la venta de productos, el inventario, los pedidos y la información administrativa mediante dos aplicaciones web integradas. La elaboración de la ERS, los casos de uso, los mockups, la EDT y la Carta Gantt proporciona una base clara para comenzar el desarrollo. La siguiente etapa será implementar los módulos planificados, realizar las integraciones y comprobar su funcionamiento mediante pruebas.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que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que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Paquete</Template>
  <TotalTime>0</TotalTime>
  <Words>941</Words>
  <Application>Microsoft Office PowerPoint</Application>
  <PresentationFormat>Panorámica</PresentationFormat>
  <Paragraphs>66</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Gill Sans MT</vt:lpstr>
      <vt:lpstr>Paquete</vt:lpstr>
      <vt:lpstr>Presentación Portafolio Titulo “NexoHardware”</vt:lpstr>
      <vt:lpstr>Presentación de PowerPoint</vt:lpstr>
      <vt:lpstr>Descripción del Proyecto</vt:lpstr>
      <vt:lpstr>Presentación de PowerPoint</vt:lpstr>
      <vt:lpstr>Alcances</vt:lpstr>
      <vt:lpstr>Usuarios</vt:lpstr>
      <vt:lpstr>Lista de Requerimientos</vt:lpstr>
      <vt:lpstr>Mockups del Sistema</vt:lpstr>
      <vt:lpstr>Mockups del Sistema</vt:lpstr>
      <vt:lpstr>Hitos Importantes </vt:lpstr>
      <vt:lpstr>Costos por Fase </vt:lpstr>
      <vt:lpstr>Tecnologías del Desarrollo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Sala_</dc:creator>
  <cp:lastModifiedBy>Jeanette Leonelli</cp:lastModifiedBy>
  <cp:revision>1</cp:revision>
  <dcterms:created xsi:type="dcterms:W3CDTF">2015-07-01T15:45:01Z</dcterms:created>
  <dcterms:modified xsi:type="dcterms:W3CDTF">2026-09-11T00:05:29Z</dcterms:modified>
</cp:coreProperties>
</file>